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005840"/>
            <a:ext cx="3840480" cy="34747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COLLEGE EVENT MANAGEMENT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Segoe UI"/>
              </a:defRPr>
            </a:pPr>
            <a:r>
              <a:t>EventFlow</a:t>
            </a:r>
          </a:p>
          <a:p>
            <a:pPr>
              <a:spcBef>
                <a:spcPts val="800"/>
              </a:spcBef>
              <a:defRPr sz="2000">
                <a:solidFill>
                  <a:srgbClr val="14B8A6"/>
                </a:solidFill>
                <a:latin typeface="Segoe UI"/>
              </a:defRPr>
            </a:pPr>
            <a:r>
              <a:t>Built using Java Swing and Data Structures &amp; Algorithms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A modular desktop application for centralized event administration, resource allocation, and conflict management.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114800"/>
            <a:ext cx="2423160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28600" rIns="164592"/>
          <a:lstStyle/>
          <a:p>
            <a:pPr algn="ctr">
              <a:defRPr sz="1000" b="1">
                <a:solidFill>
                  <a:srgbClr val="14B8A6"/>
                </a:solidFill>
                <a:latin typeface="Segoe UI"/>
              </a:defRPr>
            </a:pPr>
            <a:r>
              <a:t>STUDENT NAME</a:t>
            </a:r>
          </a:p>
          <a:p>
            <a:pPr>
              <a:spcBef>
                <a:spcPts val="12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[Student Name]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114800"/>
            <a:ext cx="242316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57016" y="4114800"/>
            <a:ext cx="2423160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28600" rIns="164592"/>
          <a:lstStyle/>
          <a:p>
            <a:pPr algn="ctr">
              <a:defRPr sz="1000" b="1">
                <a:solidFill>
                  <a:srgbClr val="14B8A6"/>
                </a:solidFill>
                <a:latin typeface="Segoe UI"/>
              </a:defRPr>
            </a:pPr>
            <a:r>
              <a:t>ROLL NUMBER</a:t>
            </a:r>
          </a:p>
          <a:p>
            <a:pPr>
              <a:spcBef>
                <a:spcPts val="12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[Roll Number]</a:t>
            </a:r>
          </a:p>
        </p:txBody>
      </p:sp>
      <p:sp>
        <p:nvSpPr>
          <p:cNvPr id="9" name="Rectangle 8"/>
          <p:cNvSpPr/>
          <p:nvPr/>
        </p:nvSpPr>
        <p:spPr>
          <a:xfrm>
            <a:off x="3557016" y="4114800"/>
            <a:ext cx="242316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99632" y="4114800"/>
            <a:ext cx="2423160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28600" rIns="164592"/>
          <a:lstStyle/>
          <a:p>
            <a:pPr algn="ctr">
              <a:defRPr sz="1000" b="1">
                <a:solidFill>
                  <a:srgbClr val="14B8A6"/>
                </a:solidFill>
                <a:latin typeface="Segoe UI"/>
              </a:defRPr>
            </a:pPr>
            <a:r>
              <a:t>DEPARTMENT</a:t>
            </a:r>
          </a:p>
          <a:p>
            <a:pPr>
              <a:spcBef>
                <a:spcPts val="12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[Department Name]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4114800"/>
            <a:ext cx="242316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842248" y="4114800"/>
            <a:ext cx="2423160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28600" rIns="164592"/>
          <a:lstStyle/>
          <a:p>
            <a:pPr algn="ctr">
              <a:defRPr sz="1000" b="1">
                <a:solidFill>
                  <a:srgbClr val="14B8A6"/>
                </a:solidFill>
                <a:latin typeface="Segoe UI"/>
              </a:defRPr>
            </a:pPr>
            <a:r>
              <a:t>PROJECT GUIDE</a:t>
            </a:r>
          </a:p>
          <a:p>
            <a:pPr>
              <a:spcBef>
                <a:spcPts val="12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[Guide Name]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42248" y="4114800"/>
            <a:ext cx="242316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"/>
            <a:ext cx="3108960" cy="2743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CHALLENGES IN COLLEGE EVENT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EventFlow — College Event Management Platform  |  Java Swing &amp; DSA Project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28416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3328416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2962656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Manual Administration &amp; Fragmented Data</a:t>
            </a:r>
          </a:p>
          <a:p>
            <a:pPr>
              <a:spcBef>
                <a:spcPts val="400"/>
              </a:spcBef>
              <a:defRPr sz="1000" b="1">
                <a:solidFill>
                  <a:srgbClr val="0D9488"/>
                </a:solidFill>
                <a:latin typeface="Segoe UI"/>
              </a:defRPr>
            </a:pPr>
            <a:r>
              <a:t>FRAGMENTED MANAGEMENT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• Managing events, participants, venues, and student volunteers manually leads to data inconsistency.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• Lack of a centralized real-time dashboard creates communication gaps and tracking errors across departments.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371600"/>
            <a:ext cx="3328416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5696" y="1371600"/>
            <a:ext cx="3328416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600200"/>
            <a:ext cx="2962656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Search &amp; Information Retrieval Inefficiencies</a:t>
            </a:r>
          </a:p>
          <a:p>
            <a:pPr>
              <a:spcBef>
                <a:spcPts val="400"/>
              </a:spcBef>
              <a:defRPr sz="1000" b="1">
                <a:solidFill>
                  <a:srgbClr val="0D9488"/>
                </a:solidFill>
                <a:latin typeface="Segoe UI"/>
              </a:defRPr>
            </a:pPr>
            <a:r>
              <a:t>RETRIEVAL INEFFICIENCIES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• Searching through hundreds of registration records and log files causes computational delay.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• Basic text lookups fail to support substring pattern matching and document similarity evaluations.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371600"/>
            <a:ext cx="3328416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9872" y="1371600"/>
            <a:ext cx="3328416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600200"/>
            <a:ext cx="2962656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Resource Allocation &amp; Scheduling Conflicts</a:t>
            </a:r>
          </a:p>
          <a:p>
            <a:pPr>
              <a:spcBef>
                <a:spcPts val="400"/>
              </a:spcBef>
              <a:defRPr sz="1000" b="1">
                <a:solidFill>
                  <a:srgbClr val="0D9488"/>
                </a:solidFill>
                <a:latin typeface="Segoe UI"/>
              </a:defRPr>
            </a:pPr>
            <a:r>
              <a:t>OPERATIONAL BOTTLENECKS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• Allocating auditoriums, labs, and equipment without automated scheduling leads to frequent venue overlaps.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• Manual volunteer mapping and schedule validation fail to detect multi-variable conflicts efficiently.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486400"/>
            <a:ext cx="10728655" cy="7772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577840"/>
            <a:ext cx="103628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CORE REQUIREMENT: A unified platform combining interactive administrative management with custom Data Structures &amp; Algorithms for real-time searching, optimization, and conflict resolution.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"/>
            <a:ext cx="3108960" cy="2743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THE EVENTFLOW MANAGEMENT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Proposed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EventFlow — College Event Management Platform  |  Java Swing &amp; DSA Project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75504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5175504" cy="731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00200"/>
            <a:ext cx="4718304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1. Core Administrative Modules</a:t>
            </a:r>
          </a:p>
          <a:p>
            <a:pPr>
              <a:spcBef>
                <a:spcPts val="400"/>
              </a:spcBef>
              <a:defRPr sz="1100">
                <a:solidFill>
                  <a:srgbClr val="0D9488"/>
                </a:solidFill>
                <a:latin typeface="Segoe UI"/>
              </a:defRPr>
            </a:pPr>
            <a:r>
              <a:t>Organizes event-related information cleanly across 4 core panels: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• Dashboard Panel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Displays real-time metric statistics (Total Events, Registrations, Active Statuses) and live event directory.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• Event Directory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Centralized hub for managing event records, schedule dates, registration limits, and category filters.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• Participant Registry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Manages student registration records, department affiliations, and participant contact details.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• Venue Manager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Tracks auditorium and lab seating capacities, locations, and booking availability across campus.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371600"/>
            <a:ext cx="5175504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81928" y="1371600"/>
            <a:ext cx="5175504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1600200"/>
            <a:ext cx="4718304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2. DSA Algorithmic Processing Engine</a:t>
            </a:r>
          </a:p>
          <a:p>
            <a:pPr>
              <a:spcBef>
                <a:spcPts val="400"/>
              </a:spcBef>
              <a:defRPr sz="1100">
                <a:solidFill>
                  <a:srgbClr val="0D9488"/>
                </a:solidFill>
                <a:latin typeface="Segoe UI"/>
              </a:defRPr>
            </a:pPr>
            <a:r>
              <a:t>Supports administrative operations with specialized DSA algorithms: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• High-Performance Pattern Matching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Executes KMP exact matching and Rabin-Karp rolling hashes to locate search terms instantenously.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• Activity Optimization &amp; Distance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Uses Bitmask Dynamic Programming for sub-event scheduling and Levenshtein Distance for fuzzy string matching.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• Resource &amp; Volunteer Allocation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Applies Dinic's Maximum Flow and Bipartite Graph Matching to allocate volunteers and equipment efficiently.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• Conflict Management &amp; Analytics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Utilizes 3-SAT logic and Vertex Cover Approximation to detect schedule overlaps and compute minimal monitor nodes.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"/>
            <a:ext cx="3108960" cy="2743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SOURCE CODE COMPONENT DIAGRAM &amp;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EventFlow — College Event Management Platform  |  Java Swing &amp; DSA Project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61104" y="1234440"/>
            <a:ext cx="365760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Application Entry Point (Main.java)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07024" y="1755648"/>
            <a:ext cx="365760" cy="228600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46704" y="2011680"/>
            <a:ext cx="5486400" cy="5486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Java Swing UI Window &amp; Navigation Controller (MainFrame.java / UIUtils.java)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07024" y="2587752"/>
            <a:ext cx="365760" cy="228600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2852928"/>
            <a:ext cx="5175504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Management View Panels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DashboardPanel (System overview metrics &amp; active events)</a:t>
            </a:r>
            <a:br/>
            <a:r>
              <a:t>• EventPanel (Event directory &amp; category filter controls)</a:t>
            </a:r>
            <a:br/>
            <a:r>
              <a:t>• ParticipantPanel (Student registrations table &amp; search)</a:t>
            </a:r>
            <a:br/>
            <a:r>
              <a:t>• VenuePanel (Auditorium &amp; laboratory capacity directory)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852928"/>
            <a:ext cx="5175504" cy="731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81928" y="2852928"/>
            <a:ext cx="5175504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Six DSA Module Processing Panels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M1SearchPanel (KMP &amp; Rabin-Karp String Search UI)</a:t>
            </a:r>
            <a:br/>
            <a:r>
              <a:t>• M2DocumentPanel (Suffix Array &amp; LCP Similarity UI)</a:t>
            </a:r>
            <a:br/>
            <a:r>
              <a:t>• M3OptimizationPanel (Bitmask DP &amp; Distance UI)</a:t>
            </a:r>
            <a:br/>
            <a:r>
              <a:t>• M4ResourcePanel &amp; M5ConflictPanel &amp; M6AnalyticsPanel UI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81928" y="2852928"/>
            <a:ext cx="5175504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5907024" y="4251960"/>
            <a:ext cx="365760" cy="201168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4480560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1250" b="1">
                <a:solidFill>
                  <a:srgbClr val="0F172A"/>
                </a:solidFill>
                <a:latin typeface="Segoe UI"/>
              </a:defRPr>
            </a:pPr>
            <a:r>
              <a:t>Algorithmic Core Execution Layer (src/algorithms/)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m1 (KMP, Rabin-Karp) | m2 (Suffix Array, Kasai's LCP) | m3 (Bitmask DP, Levenshtein) | m4 (Dinic Max Flow, Bipartite Matching) | m5 (3-SAT, Vertex Cover) | m6 (QuickSort, Reservoir Sampling)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480560"/>
            <a:ext cx="1072865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5907024" y="5321808"/>
            <a:ext cx="365760" cy="164592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5504688"/>
            <a:ext cx="10728655" cy="8229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1250" b="1">
                <a:solidFill>
                  <a:srgbClr val="0F172A"/>
                </a:solidFill>
                <a:latin typeface="Segoe UI"/>
              </a:defRPr>
            </a:pPr>
            <a:r>
              <a:t>Data Domain Models &amp; In-Memory Service Layer (src/model/ &amp; src/service/)</a:t>
            </a:r>
          </a:p>
          <a:p>
            <a:pPr>
              <a:spcBef>
                <a:spcPts val="300"/>
              </a:spcBef>
              <a:defRPr sz="950">
                <a:solidFill>
                  <a:srgbClr val="0D9488"/>
                </a:solidFill>
                <a:latin typeface="Segoe UI"/>
              </a:defRPr>
            </a:pPr>
            <a:r>
              <a:t>Domain Objects (Event.java, Participant.java, Activity.java, Venue.java, Volunteer.java) populated via in-memory DataService.java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"/>
            <a:ext cx="3108960" cy="2743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GENUINE EVENTFLOW SYSTEM INTERFACE SCREEN CAPTURES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Application Interface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EventFlow — College Event Management Platform  |  Java Swing &amp; DSA Project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28416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3328416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536192"/>
            <a:ext cx="3108960" cy="19431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3886200"/>
            <a:ext cx="3054096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System Overview Dashboard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Displays high-level statistical summary cards (25 Total Events, 1250 Participants, 3420 Signups) and active event directory.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1371600"/>
            <a:ext cx="3328416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25696" y="1371600"/>
            <a:ext cx="3328416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ev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24" y="1536192"/>
            <a:ext cx="3108960" cy="19431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62856" y="3886200"/>
            <a:ext cx="3054096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Event Management Directory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Provides structured tabular view of all campus events with category dropdown filtering, status flags, and capacity tracking.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371600"/>
            <a:ext cx="3328416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9872" y="1371600"/>
            <a:ext cx="3328416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m1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536192"/>
            <a:ext cx="3108960" cy="19431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57032" y="3886200"/>
            <a:ext cx="3054096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Module M1 Pattern Search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Demonstrates live execution of KMP and Rabin-Karp pattern matching algorithms on event title and description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"/>
            <a:ext cx="3108960" cy="2743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SIX CORE DATA STRUCTURES &amp; ALGORITHMIC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DSA Modules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EventFlow — College Event Management Platform  |  Java Swing &amp; DSA Project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28416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3328416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536192"/>
            <a:ext cx="2999232" cy="1911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MODULE M1  •  String Pattern Matching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t>Knuth-Morris-Pratt (KMP) &amp; Rabin-Karp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Executes exact pattern matching and rolling-hash searching across event titles and description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371600"/>
            <a:ext cx="3328416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5696" y="1371600"/>
            <a:ext cx="3328416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536192"/>
            <a:ext cx="2999232" cy="1911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MODULE M2  •  Document Similarity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t>Suffix Array &amp; Kasai's LCP Array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Constructs suffix arrays and longest common prefixes to evaluate structural similarity in event documents.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371600"/>
            <a:ext cx="3328416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9872" y="1371600"/>
            <a:ext cx="3328416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1536192"/>
            <a:ext cx="2999232" cy="1911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MODULE M3  •  Activity Optimization &amp; Distance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t>Bitmask Dynamic Programming &amp; Levenshtein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Computes optimal sub-event activity sequences and fuzzy string distances for typo-tolerant queries.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86200"/>
            <a:ext cx="3328416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886200"/>
            <a:ext cx="3328416" cy="73152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050792"/>
            <a:ext cx="2999232" cy="1911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9333EA"/>
                </a:solidFill>
                <a:latin typeface="Segoe UI"/>
              </a:defRPr>
            </a:pPr>
            <a:r>
              <a:t>MODULE M4  •  Resource Allocation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t>Dinic's Maximum Flow &amp; Bipartite Matching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Models capacity networks to allocate volunteers to events and optimize equipment distribution.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25696" y="3886200"/>
            <a:ext cx="3328416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25696" y="3886200"/>
            <a:ext cx="3328416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0288" y="4050792"/>
            <a:ext cx="2999232" cy="1911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MODULE M5  •  Conflict Management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t>3-SAT Solver &amp; Vertex Cover Approximation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Validates boolean scheduling constraints and computes 2-approximation vertex covers for venue monitoring.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9872" y="3886200"/>
            <a:ext cx="3328416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19872" y="3886200"/>
            <a:ext cx="3328416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84464" y="4050792"/>
            <a:ext cx="2999232" cy="1911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MODULE M6  •  Event Analytics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t>Randomized QuickSort &amp; Reservoir Sampling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Ranks multi-attribute event records efficiently and selects uniform random samples for participant surveys.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"/>
            <a:ext cx="3108960" cy="2743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CORE TECH STACK &amp; ALGORITHMIC INTEGRATION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Implementation and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EventFlow — College Event Management Platform  |  Java Swing &amp; DSA Project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75504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5175504" cy="731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00200"/>
            <a:ext cx="471830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Technology Stack &amp; Architecture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• Programming Language: </a:t>
            </a:r>
            <a:r>
              <a:rPr b="0">
                <a:solidFill>
                  <a:srgbClr val="64748B"/>
                </a:solidFill>
              </a:rPr>
              <a:t>Java SE (JDK 21 tested, JDK 8+ compatible).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• UI Framework: </a:t>
            </a:r>
            <a:r>
              <a:rPr b="0">
                <a:solidFill>
                  <a:srgbClr val="64748B"/>
                </a:solidFill>
              </a:rPr>
              <a:t>Pure Java Swing (JFrame, CardLayout, JTable, JPanel, Graphics2D) without external GUI libraries.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• Design Paradigm: </a:t>
            </a:r>
            <a:r>
              <a:rPr b="0">
                <a:solidFill>
                  <a:srgbClr val="64748B"/>
                </a:solidFill>
              </a:rPr>
              <a:t>Object-Oriented Programming (OOP) with clean encapsulation and model separation.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• Modular Architecture: </a:t>
            </a:r>
            <a:r>
              <a:rPr b="0">
                <a:solidFill>
                  <a:srgbClr val="64748B"/>
                </a:solidFill>
              </a:rPr>
              <a:t>Structured packages: main, ui, model, algorithms (m1-m6), service.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• Data Management: </a:t>
            </a:r>
            <a:r>
              <a:rPr b="0">
                <a:solidFill>
                  <a:srgbClr val="64748B"/>
                </a:solidFill>
              </a:rPr>
              <a:t>In-memory DataService providing pre-populated sample records for fast evaluation.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371600"/>
            <a:ext cx="5175504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81928" y="1371600"/>
            <a:ext cx="5175504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1600200"/>
            <a:ext cx="471830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Component Integration Workflow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• User Interaction: </a:t>
            </a:r>
            <a:r>
              <a:rPr b="0">
                <a:solidFill>
                  <a:srgbClr val="64748B"/>
                </a:solidFill>
              </a:rPr>
              <a:t>User triggers search, optimization, or allocation requests via Swing UI panels.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• Service Coordination: </a:t>
            </a:r>
            <a:r>
              <a:rPr b="0">
                <a:solidFill>
                  <a:srgbClr val="64748B"/>
                </a:solidFill>
              </a:rPr>
              <a:t>UI controllers invoke DataService to fetch active model collections.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• In-Memory Processing: </a:t>
            </a:r>
            <a:r>
              <a:rPr b="0">
                <a:solidFill>
                  <a:srgbClr val="64748B"/>
                </a:solidFill>
              </a:rPr>
              <a:t>Target DSA modules process objects in memory without disk I/O bottlenecks.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• Result Wrapping: </a:t>
            </a:r>
            <a:r>
              <a:rPr b="0">
                <a:solidFill>
                  <a:srgbClr val="64748B"/>
                </a:solidFill>
              </a:rPr>
              <a:t>Algorithms return structured outputs, match positions, or flow values.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• Dynamic UI Rendering: </a:t>
            </a:r>
            <a:r>
              <a:rPr b="0">
                <a:solidFill>
                  <a:srgbClr val="64748B"/>
                </a:solidFill>
              </a:rPr>
              <a:t>Swing components refresh custom JTable views and metric stat cards instantaneously.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86400"/>
            <a:ext cx="10728655" cy="77724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577840"/>
            <a:ext cx="103628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Note on Data Storage: Built as a pure Java desktop platform using in-memory data structures via DataService.java; does not require external database drivers or permanent database setup.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"/>
            <a:ext cx="3108960" cy="2743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PROJECT SUMMARY &amp; ACKNOWLEDGEMENTS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EventFlow — College Event Management Platform  |  Java Swing &amp; DSA Project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1072865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600200"/>
            <a:ext cx="1018001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Project Summary &amp; Core Accomplishments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• Centralized Event Administration: EventFlow successfully organizes college events, student registrations, and campus venues into a modern desktop platform.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• Practical Application of DSA: Implements 6 specialized DSA modules (KMP, Rabin-Karp, Suffix Array, Kasai's LCP, Bitmask DP, Levenshtein, Dinic Max-Flow, Bipartite Matching, 3-SAT, Vertex Cover, QuickSort, Reservoir Sampling) to solve real-world operational challenges.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• Clean Modular OOP Design: Strict decoupling of Swing presentation panels, domain models, in-memory data service, and algorithmic execution units.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26280"/>
            <a:ext cx="10728655" cy="17373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526280"/>
            <a:ext cx="1072865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800600"/>
            <a:ext cx="98142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  <a:p>
            <a:pPr algn="ctr">
              <a:spcBef>
                <a:spcPts val="800"/>
              </a:spcBef>
              <a:defRPr sz="1400">
                <a:solidFill>
                  <a:srgbClr val="14B8A6"/>
                </a:solidFill>
                <a:latin typeface="Segoe UI"/>
              </a:defRPr>
            </a:pPr>
            <a:r>
              <a:t>EventFlow — College Event Management Platform  |  Open for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